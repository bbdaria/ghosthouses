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37" r:id="rId1"/>
  </p:sldMasterIdLst>
  <p:notesMasterIdLst>
    <p:notesMasterId r:id="rId3"/>
  </p:notesMasterIdLst>
  <p:sldIdLst>
    <p:sldId id="747" r:id="rId2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taliDD" initials="V" lastIdx="1" clrIdx="0">
    <p:extLst>
      <p:ext uri="{19B8F6BF-5375-455C-9EA6-DF929625EA0E}">
        <p15:presenceInfo xmlns:p15="http://schemas.microsoft.com/office/powerpoint/2012/main" userId="VitaliD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F50B"/>
    <a:srgbClr val="D4EBDB"/>
    <a:srgbClr val="FFFF00"/>
    <a:srgbClr val="FF6600"/>
    <a:srgbClr val="DEA900"/>
    <a:srgbClr val="EAB200"/>
    <a:srgbClr val="305250"/>
    <a:srgbClr val="E7C8B7"/>
    <a:srgbClr val="FFFFFF"/>
    <a:srgbClr val="35FF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FAB8A7-59B8-46A3-A0F1-187B5B1D61FE}" v="4" dt="2026-07-01T07:21:53.7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סגנון ביניים 2 - הדגשה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סגנון ביניים 2 - הדגשה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ללא סגנון, ללא רשת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124" autoAdjust="0"/>
    <p:restoredTop sz="95407" autoAdjust="0"/>
  </p:normalViewPr>
  <p:slideViewPr>
    <p:cSldViewPr snapToGrid="0">
      <p:cViewPr varScale="1">
        <p:scale>
          <a:sx n="78" d="100"/>
          <a:sy n="78" d="100"/>
        </p:scale>
        <p:origin x="79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commentAuthors" Target="commentAuthor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em Araide" userId="de348250dbb8bac6" providerId="LiveId" clId="{65F28107-F77A-404E-ADBF-4CBF28DF91CB}"/>
    <pc:docChg chg="undo redo custSel modSld">
      <pc:chgData name="Kareem Araide" userId="de348250dbb8bac6" providerId="LiveId" clId="{65F28107-F77A-404E-ADBF-4CBF28DF91CB}" dt="2026-07-01T07:21:54.422" v="42" actId="20577"/>
      <pc:docMkLst>
        <pc:docMk/>
      </pc:docMkLst>
      <pc:sldChg chg="modSp mod">
        <pc:chgData name="Kareem Araide" userId="de348250dbb8bac6" providerId="LiveId" clId="{65F28107-F77A-404E-ADBF-4CBF28DF91CB}" dt="2026-07-01T07:21:54.422" v="42" actId="20577"/>
        <pc:sldMkLst>
          <pc:docMk/>
          <pc:sldMk cId="2354692379" sldId="747"/>
        </pc:sldMkLst>
        <pc:spChg chg="mod">
          <ac:chgData name="Kareem Araide" userId="de348250dbb8bac6" providerId="LiveId" clId="{65F28107-F77A-404E-ADBF-4CBF28DF91CB}" dt="2026-07-01T07:21:54.422" v="42" actId="20577"/>
          <ac:spMkLst>
            <pc:docMk/>
            <pc:sldMk cId="2354692379" sldId="747"/>
            <ac:spMk id="23" creationId="{2576C175-3BF1-9365-5DE4-6A895245D8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52016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>
                <a:cs typeface="Calibri" panose="020F0502020204030204" pitchFamily="34" charset="0"/>
              </a:defRPr>
            </a:lvl1pPr>
          </a:lstStyle>
          <a:p>
            <a:endParaRPr lang="he-IL" dirty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74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>
                <a:cs typeface="Calibri" panose="020F0502020204030204" pitchFamily="34" charset="0"/>
              </a:defRPr>
            </a:lvl1pPr>
          </a:lstStyle>
          <a:p>
            <a:fld id="{2235085D-1097-4D16-8C89-046FBDEE899B}" type="datetimeFigureOut">
              <a:rPr lang="he-IL" smtClean="0"/>
              <a:pPr/>
              <a:t>ט"ז/תמוז/תשפ"ו</a:t>
            </a:fld>
            <a:endParaRPr lang="he-IL" dirty="0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 dirty="0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 dirty="0"/>
              <a:t>ערוך סגנונות טקסט של תבנית בסיס</a:t>
            </a:r>
          </a:p>
          <a:p>
            <a:pPr lvl="1"/>
            <a:r>
              <a:rPr lang="he-IL" dirty="0"/>
              <a:t>רמה שניה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52016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>
                <a:cs typeface="Calibri" panose="020F0502020204030204" pitchFamily="34" charset="0"/>
              </a:defRPr>
            </a:lvl1pPr>
          </a:lstStyle>
          <a:p>
            <a:endParaRPr lang="he-IL" dirty="0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7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>
                <a:cs typeface="Calibri" panose="020F0502020204030204" pitchFamily="34" charset="0"/>
              </a:defRPr>
            </a:lvl1pPr>
          </a:lstStyle>
          <a:p>
            <a:fld id="{738B8594-BAF9-4904-9FCA-8C34DAF6104E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55061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Calibri" panose="020F0502020204030204" pitchFamily="34" charset="0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Calibri" panose="020F0502020204030204" pitchFamily="34" charset="0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Calibri" panose="020F0502020204030204" pitchFamily="34" charset="0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Calibri" panose="020F0502020204030204" pitchFamily="34" charset="0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Calibri" panose="020F0502020204030204" pitchFamily="34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4"/>
            <a:ext cx="12192000" cy="457200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4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48125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725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  <a:lvl2pPr marL="457189" indent="0" algn="ctr">
              <a:buNone/>
              <a:defRPr sz="18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800"/>
            </a:lvl4pPr>
            <a:lvl5pPr marL="1828754" indent="0" algn="ctr">
              <a:buNone/>
              <a:defRPr sz="1800"/>
            </a:lvl5pPr>
            <a:lvl6pPr marL="2285943" indent="0" algn="ctr">
              <a:buNone/>
              <a:defRPr sz="1800"/>
            </a:lvl6pPr>
            <a:lvl7pPr marL="2743131" indent="0" algn="ctr">
              <a:buNone/>
              <a:defRPr sz="1800"/>
            </a:lvl7pPr>
            <a:lvl8pPr marL="3200320" indent="0" algn="ctr">
              <a:buNone/>
              <a:defRPr sz="1800"/>
            </a:lvl8pPr>
            <a:lvl9pPr marL="3657509" indent="0" algn="ctr">
              <a:buNone/>
              <a:defRPr sz="18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06D97635-68D3-4231-B6D3-E01CF285EE9C}" type="datetime8">
              <a:rPr lang="he-IL" smtClean="0"/>
              <a:pPr/>
              <a:t>01 יולי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F22CDE36-7B02-4562-91DC-14257561E23C}" type="slidenum">
              <a:rPr lang="he-IL" smtClean="0"/>
              <a:pPr/>
              <a:t>‹#›</a:t>
            </a:fld>
            <a:endParaRPr lang="he-IL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871993" y="5264106"/>
            <a:ext cx="0" cy="9144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540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  <a:lvl2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2pPr>
            <a:lvl3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3pPr>
            <a:lvl4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4pPr>
            <a:lvl5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5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8D7207FB-0423-4EBC-BC71-093AC5750AD0}" type="datetime8">
              <a:rPr lang="he-IL" smtClean="0"/>
              <a:pPr/>
              <a:t>01 יולי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F22CDE36-7B02-4562-91DC-14257561E23C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1420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4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4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997" y="4960137"/>
            <a:ext cx="11458831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1EDE2-E23E-4D45-97E7-8B22884C3954}" type="datetime8">
              <a:rPr lang="he-IL" smtClean="0"/>
              <a:t>01 יולי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DE36-7B02-4562-91DC-14257561E23C}" type="slidenum">
              <a:rPr lang="he-IL" smtClean="0"/>
              <a:t>‹#›</a:t>
            </a:fld>
            <a:endParaRPr lang="he-IL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1789068" y="5264106"/>
            <a:ext cx="0" cy="9144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914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D2518-068A-4B4E-9411-11F0D777D01C}" type="datetime8">
              <a:rPr lang="he-IL" smtClean="0"/>
              <a:t>01 יולי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DE36-7B02-4562-91DC-14257561E2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92514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  <a:lvl2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2pPr>
            <a:lvl3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3pPr>
            <a:lvl4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4pPr>
            <a:lvl5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5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 algn="r" rtl="1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Assistant" panose="00000500000000000000" pitchFamily="2" charset="-79"/>
                <a:ea typeface="+mn-ea"/>
                <a:cs typeface="Assistant" panose="00000500000000000000" pitchFamily="2" charset="-79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he-IL" dirty="0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  <a:lvl2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2pPr>
            <a:lvl3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3pPr>
            <a:lvl4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4pPr>
            <a:lvl5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5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0F1C5475-1302-4305-92B3-B5D3D4D128BD}" type="datetime8">
              <a:rPr lang="he-IL" smtClean="0"/>
              <a:pPr/>
              <a:t>01 יולי 26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F22CDE36-7B02-4562-91DC-14257561E23C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5238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98EE1D82-A631-49C7-A4BC-CF56C1A36EBF}" type="datetime8">
              <a:rPr lang="he-IL" smtClean="0"/>
              <a:pPr/>
              <a:t>01 יולי 26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F22CDE36-7B02-4562-91DC-14257561E23C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09093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353D4-AB26-4510-80F0-851F863F6D73}" type="datetime8">
              <a:rPr lang="he-IL" smtClean="0"/>
              <a:t>01 יולי 26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DE36-7B02-4562-91DC-14257561E2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5171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2F0F-C3DA-4E52-B4E3-B2BD22748E6D}" type="datetime8">
              <a:rPr lang="he-IL" smtClean="0"/>
              <a:t>01 יולי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DE36-7B02-4562-91DC-14257561E2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4226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CD77F-7A8D-4C44-9CE3-16F0C0070A60}" type="datetime8">
              <a:rPr lang="he-IL" smtClean="0"/>
              <a:t>01 יולי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DE36-7B02-4562-91DC-14257561E23C}" type="slidenum">
              <a:rPr lang="he-IL" smtClean="0"/>
              <a:t>‹#›</a:t>
            </a:fld>
            <a:endParaRPr lang="he-IL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1975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C3CD-2DD7-4739-91FD-190E7B42CACD}" type="datetime8">
              <a:rPr lang="he-IL" smtClean="0"/>
              <a:t>01 יולי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DE36-7B02-4562-91DC-14257561E2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80484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762000"/>
            <a:ext cx="2628900" cy="5410200"/>
          </a:xfrm>
        </p:spPr>
        <p:txBody>
          <a:bodyPr vert="eaVert" lIns="45720" tIns="91440" rIns="45720" bIns="91440">
            <a:normAutofit/>
          </a:bodyPr>
          <a:lstStyle>
            <a:lvl1pPr>
              <a:defRPr sz="4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3" y="762000"/>
            <a:ext cx="7581900" cy="5410200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BFC87-1F72-462A-BCEA-1A814EAC5254}" type="datetime8">
              <a:rPr lang="he-IL" smtClean="0"/>
              <a:t>01 יולי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DE36-7B02-4562-91DC-14257561E23C}" type="slidenum">
              <a:rPr lang="he-IL" smtClean="0"/>
              <a:t>‹#›</a:t>
            </a:fld>
            <a:endParaRPr lang="he-IL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525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08960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 dirty="0"/>
              <a:t>לחץ כדי לערוך סגנון כותרת של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876425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31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864DF5F2-D2BF-431E-BFF9-A44526EEADB6}" type="datetime8">
              <a:rPr lang="he-IL" smtClean="0"/>
              <a:pPr/>
              <a:t>01 יולי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3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F22CDE36-7B02-4562-91DC-14257561E23C}" type="slidenum">
              <a:rPr lang="he-IL" smtClean="0"/>
              <a:pPr/>
              <a:t>‹#›</a:t>
            </a:fld>
            <a:endParaRPr lang="he-IL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10940307" y="760422"/>
            <a:ext cx="0" cy="9144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85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hf hdr="0" ftr="0" dt="0"/>
  <p:txStyles>
    <p:titleStyle>
      <a:lvl1pPr algn="r" defTabSz="914377" rtl="1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accent6">
              <a:lumMod val="50000"/>
            </a:schemeClr>
          </a:solidFill>
          <a:latin typeface="Assistant" panose="00000500000000000000" pitchFamily="2" charset="-79"/>
          <a:ea typeface="+mj-ea"/>
          <a:cs typeface="Assistant" panose="00000500000000000000" pitchFamily="2" charset="-79"/>
        </a:defRPr>
      </a:lvl1pPr>
    </p:titleStyle>
    <p:bodyStyle>
      <a:lvl1pPr marL="91438" indent="-91438" algn="r" defTabSz="914377" rtl="1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Assistant" panose="00000500000000000000" pitchFamily="2" charset="-79"/>
          <a:ea typeface="+mn-ea"/>
          <a:cs typeface="Assistant" panose="00000500000000000000" pitchFamily="2" charset="-79"/>
        </a:defRPr>
      </a:lvl1pPr>
      <a:lvl2pPr marL="265169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Assistant" panose="00000500000000000000" pitchFamily="2" charset="-79"/>
          <a:ea typeface="+mn-ea"/>
          <a:cs typeface="Assistant" panose="00000500000000000000" pitchFamily="2" charset="-79"/>
        </a:defRPr>
      </a:lvl2pPr>
      <a:lvl3pPr marL="448045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Assistant" panose="00000500000000000000" pitchFamily="2" charset="-79"/>
          <a:ea typeface="+mn-ea"/>
          <a:cs typeface="Assistant" panose="00000500000000000000" pitchFamily="2" charset="-79"/>
        </a:defRPr>
      </a:lvl3pPr>
      <a:lvl4pPr marL="594345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Assistant" panose="00000500000000000000" pitchFamily="2" charset="-79"/>
          <a:ea typeface="+mn-ea"/>
          <a:cs typeface="Assistant" panose="00000500000000000000" pitchFamily="2" charset="-79"/>
        </a:defRPr>
      </a:lvl4pPr>
      <a:lvl5pPr marL="777221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Assistant" panose="00000500000000000000" pitchFamily="2" charset="-79"/>
          <a:ea typeface="+mn-ea"/>
          <a:cs typeface="Assistant" panose="00000500000000000000" pitchFamily="2" charset="-79"/>
        </a:defRPr>
      </a:lvl5pPr>
      <a:lvl6pPr marL="914377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677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22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22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/>
          <p:cNvPicPr>
            <a:picLocks noChangeAspect="1"/>
          </p:cNvPicPr>
          <p:nvPr/>
        </p:nvPicPr>
        <p:blipFill rotWithShape="1">
          <a:blip r:embed="rId2"/>
          <a:stretch/>
        </p:blipFill>
        <p:spPr>
          <a:xfrm>
            <a:off x="0" y="4114800"/>
            <a:ext cx="3035808" cy="2743200"/>
          </a:xfrm>
          <a:prstGeom prst="rect">
            <a:avLst/>
          </a:prstGeom>
        </p:spPr>
      </p:pic>
      <p:sp>
        <p:nvSpPr>
          <p:cNvPr id="16" name="מלבן 15"/>
          <p:cNvSpPr/>
          <p:nvPr/>
        </p:nvSpPr>
        <p:spPr>
          <a:xfrm>
            <a:off x="3072384" y="0"/>
            <a:ext cx="912571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9" name="תיבת טקסט 9">
            <a:extLst>
              <a:ext uri="{FF2B5EF4-FFF2-40B4-BE49-F238E27FC236}">
                <a16:creationId xmlns:a16="http://schemas.microsoft.com/office/drawing/2014/main" id="{2576C175-3BF1-9365-5DE4-6A895245D818}"/>
              </a:ext>
            </a:extLst>
          </p:cNvPr>
          <p:cNvSpPr txBox="1"/>
          <p:nvPr/>
        </p:nvSpPr>
        <p:spPr>
          <a:xfrm>
            <a:off x="3072384" y="0"/>
            <a:ext cx="8979408" cy="6949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5400" b="1" dirty="0">
                <a:solidFill>
                  <a:srgbClr val="30525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אהבת ציון 10</a:t>
            </a:r>
          </a:p>
        </p:txBody>
      </p:sp>
      <p:sp>
        <p:nvSpPr>
          <p:cNvPr id="20" name="תיבת טקסט 9">
            <a:extLst>
              <a:ext uri="{FF2B5EF4-FFF2-40B4-BE49-F238E27FC236}">
                <a16:creationId xmlns:a16="http://schemas.microsoft.com/office/drawing/2014/main" id="{2576C175-3BF1-9365-5DE4-6A895245D818}"/>
              </a:ext>
            </a:extLst>
          </p:cNvPr>
          <p:cNvSpPr txBox="1"/>
          <p:nvPr/>
        </p:nvSpPr>
        <p:spPr>
          <a:xfrm>
            <a:off x="9889236" y="3392424"/>
            <a:ext cx="2162556" cy="841248"/>
          </a:xfrm>
          <a:prstGeom prst="rect">
            <a:avLst/>
          </a:prstGeom>
          <a:solidFill>
            <a:srgbClr val="D4E6EE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sz="3200" b="1" lang="he-IL">
                <a:solidFill>
                  <a:srgbClr val="2F5552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יעוד</a:t>
            </a:r>
          </a:p>
          <a:p>
            <a:pPr algn="ctr"/>
            <a:r>
              <a:rPr sz="1400" b="0" lang="he-IL">
                <a:solidFill>
                  <a:srgbClr val="2F5552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-</a:t>
            </a:r>
          </a:p>
        </p:txBody>
      </p:sp>
      <p:sp>
        <p:nvSpPr>
          <p:cNvPr id="21" name="תיבת טקסט 9">
            <a:extLst>
              <a:ext uri="{FF2B5EF4-FFF2-40B4-BE49-F238E27FC236}">
                <a16:creationId xmlns:a16="http://schemas.microsoft.com/office/drawing/2014/main" id="{2576C175-3BF1-9365-5DE4-6A895245D818}"/>
              </a:ext>
            </a:extLst>
          </p:cNvPr>
          <p:cNvSpPr txBox="1"/>
          <p:nvPr/>
        </p:nvSpPr>
        <p:spPr>
          <a:xfrm>
            <a:off x="3072384" y="676656"/>
            <a:ext cx="8979408" cy="3108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2000" dirty="0">
                <a:solidFill>
                  <a:srgbClr val="A6A6A6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גוש 12520 חלקה 12</a:t>
            </a:r>
          </a:p>
        </p:txBody>
      </p:sp>
      <p:sp>
        <p:nvSpPr>
          <p:cNvPr id="23" name="תיבת טקסט 9">
            <a:extLst>
              <a:ext uri="{FF2B5EF4-FFF2-40B4-BE49-F238E27FC236}">
                <a16:creationId xmlns:a16="http://schemas.microsoft.com/office/drawing/2014/main" id="{2576C175-3BF1-9365-5DE4-6A895245D818}"/>
              </a:ext>
            </a:extLst>
          </p:cNvPr>
          <p:cNvSpPr txBox="1"/>
          <p:nvPr/>
        </p:nvSpPr>
        <p:spPr>
          <a:xfrm>
            <a:off x="3072384" y="2752344"/>
            <a:ext cx="8979408" cy="512064"/>
          </a:xfrm>
          <a:prstGeom prst="rect">
            <a:avLst/>
          </a:prstGeom>
          <a:solidFill>
            <a:srgbClr val="8ED052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3200" b="1" dirty="0">
                <a:solidFill>
                  <a:srgbClr val="2F5552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סיווג</a:t>
            </a:r>
            <a:r>
              <a:rPr lang="he-IL" sz="3200" b="1" dirty="0">
                <a:solidFill>
                  <a:srgbClr val="2F5552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: </a:t>
            </a:r>
            <a:r>
              <a:rPr lang="he-IL" sz="3200" b="1" dirty="0">
                <a:solidFill>
                  <a:srgbClr val="2F5552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ריק ובהליך שיקום</a:t>
            </a:r>
            <a:endParaRPr sz="3200" b="1" dirty="0" lang="he-IL">
              <a:solidFill>
                <a:srgbClr val="2F5552"/>
              </a:solidFill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25" name="מלבן 24"/>
          <p:cNvSpPr/>
          <p:nvPr/>
        </p:nvSpPr>
        <p:spPr>
          <a:xfrm>
            <a:off x="3072384" y="2240280"/>
            <a:ext cx="8979408" cy="420624"/>
          </a:xfrm>
          <a:prstGeom prst="rect">
            <a:avLst/>
          </a:prstGeom>
          <a:solidFill>
            <a:srgbClr val="AEBBC0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3200" b="1" dirty="0">
                <a:solidFill>
                  <a:srgbClr val="2F5552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בעלות: רשות מקומית - עיריית חיפה</a:t>
            </a:r>
          </a:p>
        </p:txBody>
      </p:sp>
      <p:sp>
        <p:nvSpPr>
          <p:cNvPr id="27" name="אליפסה 26"/>
          <p:cNvSpPr/>
          <p:nvPr/>
        </p:nvSpPr>
        <p:spPr>
          <a:xfrm>
            <a:off x="4088891" y="1078992"/>
            <a:ext cx="960120" cy="960120"/>
          </a:xfrm>
          <a:prstGeom prst="ellipse">
            <a:avLst/>
          </a:prstGeom>
          <a:solidFill>
            <a:srgbClr val="E84A3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 rtl="1"/>
            <a:r>
              <a:rPr lang="he-IL" sz="7200" b="1" dirty="0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6</a:t>
            </a:r>
          </a:p>
        </p:txBody>
      </p:sp>
      <p:graphicFrame>
        <p:nvGraphicFramePr>
          <p:cNvPr id="2" name="טבלה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143216"/>
              </p:ext>
            </p:extLst>
          </p:nvPr>
        </p:nvGraphicFramePr>
        <p:xfrm>
          <a:off x="3072384" y="4379976"/>
          <a:ext cx="8979408" cy="1207008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2231136">
                  <a:extLst>
                    <a:ext uri="{9D8B030D-6E8A-4147-A177-3AD203B41FA5}">
                      <a16:colId xmlns:a16="http://schemas.microsoft.com/office/drawing/2014/main" val="72053458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33856068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1287329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3932464124"/>
                    </a:ext>
                  </a:extLst>
                </a:gridCol>
              </a:tblGrid>
              <a:tr h="475488">
                <a:tc rowSpan="2">
                  <a:txBody>
                    <a:bodyPr/>
                    <a:lstStyle/>
                    <a:p>
                      <a:pPr algn="ctr" rtl="1"/>
                      <a:r>
                        <a:rPr lang="he-IL" sz="3200" b="1" kern="1200" dirty="0">
                          <a:solidFill>
                            <a:srgbClr val="2F5552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אכיפה פעילה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F0E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solidFill>
                            <a:srgbClr val="2F5552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פיקוח כללי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F0E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solidFill>
                            <a:srgbClr val="2F5552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פיקוח הבניה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F0E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solidFill>
                            <a:srgbClr val="2F5552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צו שיפוץ חזיתות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F0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947799"/>
                  </a:ext>
                </a:extLst>
              </a:tr>
              <a:tr h="475488">
                <a:tc vMerge="1">
                  <a:txBody>
                    <a:bodyPr/>
                    <a:lstStyle/>
                    <a:p>
                      <a:pPr algn="ctr" rtl="1"/>
                      <a:endParaRPr lang="he-IL" dirty="0"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F0E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400" dirty="0">
                          <a:solidFill>
                            <a:srgbClr val="2F5552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-</a:t>
                      </a:r>
                      <a:endParaRPr lang="he-IL" sz="2400" dirty="0"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F0E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400" kern="1200" dirty="0">
                          <a:solidFill>
                            <a:srgbClr val="2F5552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-</a:t>
                      </a:r>
                      <a:endParaRPr lang="he-IL" sz="2400" kern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F0E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400" kern="1200" dirty="0">
                          <a:solidFill>
                            <a:srgbClr val="2F5552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-</a:t>
                      </a:r>
                      <a:endParaRPr lang="he-IL" sz="2400" kern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F0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580349"/>
                  </a:ext>
                </a:extLst>
              </a:tr>
            </a:tbl>
          </a:graphicData>
        </a:graphic>
      </p:graphicFrame>
      <p:sp>
        <p:nvSpPr>
          <p:cNvPr id="33" name="תיבת טקסט 9">
            <a:extLst>
              <a:ext uri="{FF2B5EF4-FFF2-40B4-BE49-F238E27FC236}">
                <a16:creationId xmlns:a16="http://schemas.microsoft.com/office/drawing/2014/main" id="{2576C175-3BF1-9365-5DE4-6A895245D818}"/>
              </a:ext>
            </a:extLst>
          </p:cNvPr>
          <p:cNvSpPr txBox="1"/>
          <p:nvPr/>
        </p:nvSpPr>
        <p:spPr>
          <a:xfrm>
            <a:off x="3072384" y="3392424"/>
            <a:ext cx="2162556" cy="841248"/>
          </a:xfrm>
          <a:prstGeom prst="rect">
            <a:avLst/>
          </a:prstGeom>
          <a:solidFill>
            <a:srgbClr val="D4E6EE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sz="3200" b="1" lang="he-IL">
                <a:solidFill>
                  <a:srgbClr val="2F5552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תכנון</a:t>
            </a:r>
          </a:p>
          <a:p>
            <a:pPr algn="ctr"/>
            <a:r>
              <a:rPr sz="1400" b="0" lang="he-IL">
                <a:solidFill>
                  <a:srgbClr val="2F5552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-</a:t>
            </a:r>
          </a:p>
        </p:txBody>
      </p:sp>
      <p:sp>
        <p:nvSpPr>
          <p:cNvPr id="22" name="תיבת טקסט 9">
            <a:extLst>
              <a:ext uri="{FF2B5EF4-FFF2-40B4-BE49-F238E27FC236}">
                <a16:creationId xmlns:a16="http://schemas.microsoft.com/office/drawing/2014/main" id="{2576C175-3BF1-9365-5DE4-6A895245D818}"/>
              </a:ext>
            </a:extLst>
          </p:cNvPr>
          <p:cNvSpPr txBox="1"/>
          <p:nvPr/>
        </p:nvSpPr>
        <p:spPr>
          <a:xfrm>
            <a:off x="7616952" y="3392424"/>
            <a:ext cx="2162556" cy="841248"/>
          </a:xfrm>
          <a:prstGeom prst="rect">
            <a:avLst/>
          </a:prstGeom>
          <a:solidFill>
            <a:srgbClr val="D4E6EE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sz="3200" b="1" dirty="0" err="1" lang="he-IL">
                <a:solidFill>
                  <a:srgbClr val="2F5552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שימור</a:t>
            </a:r>
            <a:endParaRPr sz="3200" b="1" dirty="0" lang="he-IL">
              <a:solidFill>
                <a:srgbClr val="2F5552"/>
              </a:solidFill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algn="ctr"/>
            <a:r>
              <a:rPr sz="1400" b="0" dirty="0" lang="he-IL">
                <a:solidFill>
                  <a:srgbClr val="2F5552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-</a:t>
            </a:r>
          </a:p>
        </p:txBody>
      </p:sp>
      <p:sp>
        <p:nvSpPr>
          <p:cNvPr id="28" name="תיבת טקסט 9">
            <a:extLst>
              <a:ext uri="{FF2B5EF4-FFF2-40B4-BE49-F238E27FC236}">
                <a16:creationId xmlns:a16="http://schemas.microsoft.com/office/drawing/2014/main" id="{2576C175-3BF1-9365-5DE4-6A895245D818}"/>
              </a:ext>
            </a:extLst>
          </p:cNvPr>
          <p:cNvSpPr txBox="1"/>
          <p:nvPr/>
        </p:nvSpPr>
        <p:spPr>
          <a:xfrm>
            <a:off x="5344668" y="3392424"/>
            <a:ext cx="2162556" cy="841248"/>
          </a:xfrm>
          <a:prstGeom prst="rect">
            <a:avLst/>
          </a:prstGeom>
          <a:solidFill>
            <a:srgbClr val="D4E6EE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sz="3200" b="1" lang="he-IL">
                <a:solidFill>
                  <a:srgbClr val="2F5552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רישוי</a:t>
            </a:r>
          </a:p>
          <a:p>
            <a:pPr algn="ctr"/>
            <a:r>
              <a:rPr sz="1400" b="0" lang="he-IL">
                <a:solidFill>
                  <a:srgbClr val="2F5552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-</a:t>
            </a:r>
          </a:p>
        </p:txBody>
      </p:sp>
      <p:sp>
        <p:nvSpPr>
          <p:cNvPr id="26" name="אליפסה 25"/>
          <p:cNvSpPr/>
          <p:nvPr/>
        </p:nvSpPr>
        <p:spPr>
          <a:xfrm>
            <a:off x="7082027" y="1078992"/>
            <a:ext cx="960120" cy="960120"/>
          </a:xfrm>
          <a:prstGeom prst="ellipse">
            <a:avLst/>
          </a:prstGeom>
          <a:solidFill>
            <a:srgbClr val="9FAE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sz="2400" b="1" dirty="0">
              <a:solidFill>
                <a:schemeClr val="tx1"/>
              </a:solidFill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82027" y="1078992"/>
            <a:ext cx="960120" cy="960120"/>
          </a:xfrm>
          <a:prstGeom prst="rect">
            <a:avLst/>
          </a:prstGeom>
          <a:noFill/>
        </p:spPr>
        <p:txBody>
          <a:bodyPr wrap="square" lIns="0" tIns="0" rIns="0" bIns="0" rtlCol="1" anchor="ctr">
            <a:spAutoFit/>
          </a:bodyPr>
          <a:lstStyle/>
          <a:p>
            <a:pPr algn="ctr" rtl="1"/>
            <a:r>
              <a:rPr lang="he-IL" sz="3600" b="1" dirty="0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210</a:t>
            </a:r>
          </a:p>
          <a:p>
            <a:pPr algn="ctr" rtl="1"/>
            <a:r>
              <a:rPr lang="he-IL" sz="1600" dirty="0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מ"ר בנוי</a:t>
            </a:r>
          </a:p>
        </p:txBody>
      </p:sp>
      <p:sp>
        <p:nvSpPr>
          <p:cNvPr id="24" name="אליפסה 23"/>
          <p:cNvSpPr/>
          <p:nvPr/>
        </p:nvSpPr>
        <p:spPr>
          <a:xfrm>
            <a:off x="10075164" y="1078992"/>
            <a:ext cx="960120" cy="960120"/>
          </a:xfrm>
          <a:prstGeom prst="ellipse">
            <a:avLst/>
          </a:prstGeom>
          <a:solidFill>
            <a:srgbClr val="E8AE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sz="2400" b="1" dirty="0">
              <a:solidFill>
                <a:schemeClr val="tx1"/>
              </a:solidFill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75164" y="1078992"/>
            <a:ext cx="960120" cy="960120"/>
          </a:xfrm>
          <a:prstGeom prst="rect">
            <a:avLst/>
          </a:prstGeom>
          <a:noFill/>
        </p:spPr>
        <p:txBody>
          <a:bodyPr wrap="square" lIns="0" tIns="0" rIns="0" bIns="0" rtlCol="1" anchor="ctr">
            <a:spAutoFit/>
          </a:bodyPr>
          <a:lstStyle/>
          <a:p>
            <a:pPr algn="ctr" rtl="1"/>
            <a:r>
              <a:rPr lang="he-IL" sz="2800" b="1" dirty="0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-</a:t>
            </a:r>
          </a:p>
          <a:p>
            <a:pPr algn="ctr" rtl="1"/>
            <a:r>
              <a:rPr lang="he-IL" sz="1200" dirty="0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ניזוק פטור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0E0737-9A13-3187-0B8F-64280260E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35808" cy="4114800"/>
          </a:xfrm>
          <a:prstGeom prst="rect">
            <a:avLst/>
          </a:prstGeom>
        </p:spPr>
      </p:pic>
      <p:sp>
        <p:nvSpPr>
          <p:cNvPr id="17" name="תיבת טקסט 9">
            <a:extLst>
              <a:ext uri="{FF2B5EF4-FFF2-40B4-BE49-F238E27FC236}">
                <a16:creationId xmlns:a16="http://schemas.microsoft.com/office/drawing/2014/main" id="{2576C175-3BF1-9365-5DE4-6A895245D818}"/>
              </a:ext>
            </a:extLst>
          </p:cNvPr>
          <p:cNvSpPr txBox="1"/>
          <p:nvPr/>
        </p:nvSpPr>
        <p:spPr>
          <a:xfrm>
            <a:off x="3072384" y="5504688"/>
            <a:ext cx="4398264" cy="932688"/>
          </a:xfrm>
          <a:prstGeom prst="rect">
            <a:avLst/>
          </a:prstGeom>
          <a:solidFill>
            <a:srgbClr val="EDF6F2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sz="2200" b="1" lang="he-IL">
                <a:solidFill>
                  <a:srgbClr val="2F5552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עמדת העירייה</a:t>
            </a:r>
          </a:p>
          <a:p>
            <a:pPr algn="ctr"/>
            <a:r>
              <a:rPr sz="2000" b="1" lang="he-IL">
                <a:solidFill>
                  <a:srgbClr val="2F5552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-</a:t>
            </a:r>
          </a:p>
        </p:txBody>
      </p:sp>
      <p:sp>
        <p:nvSpPr>
          <p:cNvPr id="18" name="תיבת טקסט 9">
            <a:extLst>
              <a:ext uri="{FF2B5EF4-FFF2-40B4-BE49-F238E27FC236}">
                <a16:creationId xmlns:a16="http://schemas.microsoft.com/office/drawing/2014/main" id="{2576C175-3BF1-9365-5DE4-6A895245D818}"/>
              </a:ext>
            </a:extLst>
          </p:cNvPr>
          <p:cNvSpPr txBox="1"/>
          <p:nvPr/>
        </p:nvSpPr>
        <p:spPr>
          <a:xfrm>
            <a:off x="7653528" y="5504688"/>
            <a:ext cx="4398264" cy="932688"/>
          </a:xfrm>
          <a:prstGeom prst="rect">
            <a:avLst/>
          </a:prstGeom>
          <a:solidFill>
            <a:srgbClr val="EDF6F2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sz="2200" b="1" lang="he-IL">
                <a:solidFill>
                  <a:srgbClr val="2F5552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עמדת הבעלים</a:t>
            </a:r>
          </a:p>
          <a:p>
            <a:pPr algn="ctr"/>
            <a:r>
              <a:rPr sz="2000" b="1" lang="he-IL">
                <a:solidFill>
                  <a:srgbClr val="2F5552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3546923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אינטגרל">
  <a:themeElements>
    <a:clrScheme name="אינטגרל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אינטגרל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אינטגרל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25837</TotalTime>
  <Words>123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Abadi ExtraLight</vt:lpstr>
      <vt:lpstr>Aptos</vt:lpstr>
      <vt:lpstr>Assistant</vt:lpstr>
      <vt:lpstr>Calibri</vt:lpstr>
      <vt:lpstr>Tw Cen MT</vt:lpstr>
      <vt:lpstr>Wingdings 3</vt:lpstr>
      <vt:lpstr>אינטגרל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דובוב-דותן ויטלי</dc:creator>
  <cp:lastModifiedBy>Kareem Araide</cp:lastModifiedBy>
  <cp:revision>1074</cp:revision>
  <cp:lastPrinted>2025-01-26T07:06:47Z</cp:lastPrinted>
  <dcterms:created xsi:type="dcterms:W3CDTF">2018-12-31T06:28:35Z</dcterms:created>
  <dcterms:modified xsi:type="dcterms:W3CDTF">2026-07-01T07:21:55Z</dcterms:modified>
</cp:coreProperties>
</file>