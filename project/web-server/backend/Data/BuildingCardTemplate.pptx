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737" r:id="rId1"/>
  </p:sldMasterIdLst>
  <p:notesMasterIdLst>
    <p:notesMasterId r:id="rId3"/>
  </p:notesMasterIdLst>
  <p:sldIdLst>
    <p:sldId id="747" r:id="rId2"/>
  </p:sldIdLst>
  <p:sldSz cx="12192000" cy="6858000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VitaliDD" initials="V" lastIdx="1" clrIdx="0">
    <p:extLst>
      <p:ext uri="{19B8F6BF-5375-455C-9EA6-DF929625EA0E}">
        <p15:presenceInfo xmlns:p15="http://schemas.microsoft.com/office/powerpoint/2012/main" userId="VitaliDD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F50B"/>
    <a:srgbClr val="D4EBDB"/>
    <a:srgbClr val="FFFF00"/>
    <a:srgbClr val="FF6600"/>
    <a:srgbClr val="DEA900"/>
    <a:srgbClr val="EAB200"/>
    <a:srgbClr val="305250"/>
    <a:srgbClr val="E7C8B7"/>
    <a:srgbClr val="FFFFFF"/>
    <a:srgbClr val="35FF2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FAB8A7-59B8-46A3-A0F1-187B5B1D61FE}" v="1" dt="2026-07-01T07:15:06.4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סגנון ביניים 2 - הדגשה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סגנון ביניים 2 - הדגשה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סגנון ביניים 2 - הדגשה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940675A-B579-460E-94D1-54222C63F5DA}" styleName="ללא סגנון, רשת טבלה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ללא סגנון, ללא רשת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124" autoAdjust="0"/>
    <p:restoredTop sz="95407" autoAdjust="0"/>
  </p:normalViewPr>
  <p:slideViewPr>
    <p:cSldViewPr snapToGrid="0">
      <p:cViewPr varScale="1">
        <p:scale>
          <a:sx n="78" d="100"/>
          <a:sy n="78" d="100"/>
        </p:scale>
        <p:origin x="792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notesViewPr>
    <p:cSldViewPr snapToGrid="0">
      <p:cViewPr varScale="1">
        <p:scale>
          <a:sx n="88" d="100"/>
          <a:sy n="88" d="100"/>
        </p:scale>
        <p:origin x="3822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commentAuthors" Target="commentAuthors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em Araide" userId="de348250dbb8bac6" providerId="LiveId" clId="{65F28107-F77A-404E-ADBF-4CBF28DF91CB}"/>
    <pc:docChg chg="undo custSel modSld">
      <pc:chgData name="Kareem Araide" userId="de348250dbb8bac6" providerId="LiveId" clId="{65F28107-F77A-404E-ADBF-4CBF28DF91CB}" dt="2026-07-01T07:15:12.736" v="20" actId="2711"/>
      <pc:docMkLst>
        <pc:docMk/>
      </pc:docMkLst>
      <pc:sldChg chg="modSp mod">
        <pc:chgData name="Kareem Araide" userId="de348250dbb8bac6" providerId="LiveId" clId="{65F28107-F77A-404E-ADBF-4CBF28DF91CB}" dt="2026-07-01T07:15:12.736" v="20" actId="2711"/>
        <pc:sldMkLst>
          <pc:docMk/>
          <pc:sldMk cId="2354692379" sldId="747"/>
        </pc:sldMkLst>
        <pc:spChg chg="mod">
          <ac:chgData name="Kareem Araide" userId="de348250dbb8bac6" providerId="LiveId" clId="{65F28107-F77A-404E-ADBF-4CBF28DF91CB}" dt="2026-07-01T07:15:12.736" v="20" actId="2711"/>
          <ac:spMkLst>
            <pc:docMk/>
            <pc:sldMk cId="2354692379" sldId="747"/>
            <ac:spMk id="23" creationId="{2576C175-3BF1-9365-5DE4-6A895245D81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עליונה 1"/>
          <p:cNvSpPr>
            <a:spLocks noGrp="1"/>
          </p:cNvSpPr>
          <p:nvPr>
            <p:ph type="hdr" sz="quarter"/>
          </p:nvPr>
        </p:nvSpPr>
        <p:spPr>
          <a:xfrm>
            <a:off x="3852016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idx="1"/>
          </p:nvPr>
        </p:nvSpPr>
        <p:spPr>
          <a:xfrm>
            <a:off x="1574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1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2235085D-1097-4D16-8C89-046FBDEE899B}" type="datetimeFigureOut">
              <a:rPr lang="he-IL" smtClean="0"/>
              <a:pPr/>
              <a:t>ט"ז/תמוז/תשפ"ו</a:t>
            </a:fld>
            <a:endParaRPr lang="he-IL" dirty="0"/>
          </a:p>
        </p:txBody>
      </p:sp>
      <p:sp>
        <p:nvSpPr>
          <p:cNvPr id="4" name="מציין מיקום של תמונת שקופית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1" anchor="ctr"/>
          <a:lstStyle/>
          <a:p>
            <a:endParaRPr lang="he-IL" dirty="0"/>
          </a:p>
        </p:txBody>
      </p:sp>
      <p:sp>
        <p:nvSpPr>
          <p:cNvPr id="5" name="מציין מיקום של הערות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1"/>
          <a:lstStyle/>
          <a:p>
            <a:pPr lvl="0"/>
            <a:r>
              <a:rPr lang="he-IL" dirty="0"/>
              <a:t>ערוך סגנונות טקסט של תבנית בסיס</a:t>
            </a:r>
          </a:p>
          <a:p>
            <a:pPr lvl="1"/>
            <a:r>
              <a:rPr lang="he-IL" dirty="0"/>
              <a:t>רמה שניה</a:t>
            </a:r>
          </a:p>
          <a:p>
            <a:pPr lvl="2"/>
            <a:r>
              <a:rPr lang="he-IL" dirty="0"/>
              <a:t>רמה שלישית</a:t>
            </a:r>
          </a:p>
          <a:p>
            <a:pPr lvl="3"/>
            <a:r>
              <a:rPr lang="he-IL" dirty="0"/>
              <a:t>רמה רביעית</a:t>
            </a:r>
          </a:p>
          <a:p>
            <a:pPr lvl="4"/>
            <a:r>
              <a:rPr lang="he-IL" dirty="0"/>
              <a:t>רמה חמישית</a:t>
            </a:r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4"/>
          </p:nvPr>
        </p:nvSpPr>
        <p:spPr>
          <a:xfrm>
            <a:off x="3852016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r">
              <a:defRPr sz="1200">
                <a:cs typeface="Calibri" panose="020F0502020204030204" pitchFamily="34" charset="0"/>
              </a:defRPr>
            </a:lvl1pPr>
          </a:lstStyle>
          <a:p>
            <a:endParaRPr lang="he-IL" dirty="0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5"/>
          </p:nvPr>
        </p:nvSpPr>
        <p:spPr>
          <a:xfrm>
            <a:off x="1574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1" anchor="b"/>
          <a:lstStyle>
            <a:lvl1pPr algn="l">
              <a:defRPr sz="1200">
                <a:cs typeface="Calibri" panose="020F0502020204030204" pitchFamily="34" charset="0"/>
              </a:defRPr>
            </a:lvl1pPr>
          </a:lstStyle>
          <a:p>
            <a:fld id="{738B8594-BAF9-4904-9FCA-8C34DAF6104E}" type="slidenum">
              <a:rPr lang="he-IL" smtClean="0"/>
              <a:pPr/>
              <a:t>‹#›</a:t>
            </a:fld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555061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Calibri" panose="020F0502020204030204" pitchFamily="34" charset="0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048125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66725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 algn="ctr">
              <a:buNone/>
              <a:defRPr sz="18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800"/>
            </a:lvl4pPr>
            <a:lvl5pPr marL="1828754" indent="0" algn="ctr">
              <a:buNone/>
              <a:defRPr sz="1800"/>
            </a:lvl5pPr>
            <a:lvl6pPr marL="2285943" indent="0" algn="ctr">
              <a:buNone/>
              <a:defRPr sz="1800"/>
            </a:lvl6pPr>
            <a:lvl7pPr marL="2743131" indent="0" algn="ctr">
              <a:buNone/>
              <a:defRPr sz="1800"/>
            </a:lvl7pPr>
            <a:lvl8pPr marL="3200320" indent="0" algn="ctr">
              <a:buNone/>
              <a:defRPr sz="1800"/>
            </a:lvl8pPr>
            <a:lvl9pPr marL="3657509" indent="0" algn="ctr">
              <a:buNone/>
              <a:defRPr sz="1800"/>
            </a:lvl9pPr>
          </a:lstStyle>
          <a:p>
            <a:r>
              <a:rPr lang="he-IL"/>
              <a:t>לחץ כדי לערוך סגנון כותרת משנה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6D97635-68D3-4231-B6D3-E01CF285EE9C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87199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5406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D7207FB-0423-4EBC-BC71-093AC5750AD0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1420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0" y="4"/>
            <a:ext cx="12192000" cy="4572001"/>
          </a:xfrm>
          <a:prstGeom prst="rect">
            <a:avLst/>
          </a:prstGeom>
          <a:solidFill>
            <a:schemeClr val="accent3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4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2997" y="4960137"/>
            <a:ext cx="11458831" cy="1463040"/>
          </a:xfrm>
        </p:spPr>
        <p:txBody>
          <a:bodyPr anchor="ctr">
            <a:normAutofit/>
          </a:bodyPr>
          <a:lstStyle>
            <a:lvl1pPr algn="r">
              <a:defRPr sz="5000" b="0" spc="200" baseline="0"/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B1EDE2-E23E-4D45-97E7-8B22884C3954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11789068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3914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20" y="2286000"/>
            <a:ext cx="4754880" cy="4023360"/>
          </a:xfrm>
        </p:spPr>
        <p:txBody>
          <a:bodyPr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7D2518-068A-4B4E-9411-11F0D777D01C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925145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 dirty="0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>
              <a:spcBef>
                <a:spcPts val="0"/>
              </a:spcBef>
              <a:spcAft>
                <a:spcPts val="0"/>
              </a:spcAft>
              <a:buNone/>
              <a:defRPr sz="2300" b="0" cap="none" baseline="0">
                <a:solidFill>
                  <a:schemeClr val="accent1"/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412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90888" y="2179636"/>
            <a:ext cx="4754880" cy="822960"/>
          </a:xfrm>
        </p:spPr>
        <p:txBody>
          <a:bodyPr lIns="137160" rIns="137160" anchor="ctr">
            <a:normAutofit/>
          </a:bodyPr>
          <a:lstStyle>
            <a:lvl1pPr marL="0" indent="0" algn="r" rtl="1">
              <a:spcBef>
                <a:spcPts val="0"/>
              </a:spcBef>
              <a:spcAft>
                <a:spcPts val="0"/>
              </a:spcAft>
              <a:buNone/>
              <a:defRPr lang="en-US" sz="2300" b="0" kern="1200" cap="none" baseline="0" dirty="0">
                <a:solidFill>
                  <a:schemeClr val="accent1"/>
                </a:solidFill>
                <a:latin typeface="Assistant" panose="00000500000000000000" pitchFamily="2" charset="-79"/>
                <a:ea typeface="+mn-ea"/>
                <a:cs typeface="Assistant" panose="00000500000000000000" pitchFamily="2" charset="-79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marL="0" lvl="0" indent="0" algn="l" defTabSz="914377" rtl="0" eaLnBrk="1" latinLnBrk="0" hangingPunct="1">
              <a:lnSpc>
                <a:spcPct val="90000"/>
              </a:lnSpc>
              <a:spcBef>
                <a:spcPts val="1800"/>
              </a:spcBef>
              <a:buNone/>
            </a:pPr>
            <a:r>
              <a:rPr lang="he-IL" dirty="0"/>
              <a:t>ערוך סגנונות טקסט של תבנית בסיס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90888" y="2967788"/>
            <a:ext cx="4754880" cy="3341572"/>
          </a:xfrm>
        </p:spPr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  <a:lvl2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2pPr>
            <a:lvl3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3pPr>
            <a:lvl4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4pPr>
            <a:lvl5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5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0F1C5475-1302-4305-92B3-B5D3D4D128BD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652389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98EE1D82-A631-49C7-A4BC-CF56C1A36EBF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90931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3D4-AB26-4510-80F0-851F863F6D73}" type="datetime8">
              <a:rPr lang="he-IL" smtClean="0"/>
              <a:t>01 יולי 26</a:t>
            </a:fld>
            <a:endParaRPr lang="he-I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151715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24128" y="471509"/>
            <a:ext cx="4389120" cy="1737360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5000" y="822960"/>
            <a:ext cx="5678424" cy="51846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128" y="2257506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B2F0F-C3DA-4E52-B4E3-B2BD22748E6D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4226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960138"/>
            <a:ext cx="7772400" cy="1463040"/>
          </a:xfrm>
        </p:spPr>
        <p:txBody>
          <a:bodyPr anchor="ctr">
            <a:normAutofit/>
          </a:bodyPr>
          <a:lstStyle>
            <a:lvl1pPr algn="r">
              <a:defRPr sz="5000" spc="200" baseline="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-1"/>
            <a:ext cx="12188952" cy="4572000"/>
          </a:xfrm>
          <a:solidFill>
            <a:schemeClr val="accent1">
              <a:lumMod val="60000"/>
              <a:lumOff val="40000"/>
            </a:schemeClr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he-IL"/>
              <a:t>לחץ על הסמל כדי להוסיף תמונה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10600" y="4960138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he-IL"/>
              <a:t>ערוך סגנונות טקסט של תבנית בסיס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CD77F-7A8D-4C44-9CE3-16F0C0070A60}" type="datetime8">
              <a:rPr lang="he-IL" smtClean="0"/>
              <a:t>01 יולי 26</a:t>
            </a:fld>
            <a:endParaRPr lang="he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1975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92C3CD-2DD7-4739-91FD-190E7B42CACD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280484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2" y="762000"/>
            <a:ext cx="2628900" cy="5410200"/>
          </a:xfrm>
        </p:spPr>
        <p:txBody>
          <a:bodyPr vert="eaVert" lIns="45720" tIns="91440" rIns="45720" bIns="91440">
            <a:normAutofit/>
          </a:bodyPr>
          <a:lstStyle>
            <a:lvl1pPr>
              <a:defRPr sz="4400"/>
            </a:lvl1pPr>
          </a:lstStyle>
          <a:p>
            <a:r>
              <a:rPr lang="he-IL"/>
              <a:t>לחץ כדי לערוך סגנון כותרת של תבנית בסיס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90603" y="762000"/>
            <a:ext cx="7581900" cy="5410200"/>
          </a:xfrm>
        </p:spPr>
        <p:txBody>
          <a:bodyPr vert="eaVert"/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BFC87-1F72-462A-BCEA-1A814EAC5254}" type="datetime8">
              <a:rPr lang="he-IL" smtClean="0"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CDE36-7B02-4562-91DC-14257561E23C}" type="slidenum">
              <a:rPr lang="he-IL" smtClean="0"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rot="5400000" flipV="1">
            <a:off x="10058400" y="59263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4525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089606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e-IL" dirty="0"/>
              <a:t>לחץ כדי לערוך סגנון כותרת של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1876425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he-IL"/>
              <a:t>ערוך סגנונות טקסט של תבנית בסיס</a:t>
            </a:r>
          </a:p>
          <a:p>
            <a:pPr lvl="1"/>
            <a:r>
              <a:rPr lang="he-IL"/>
              <a:t>רמה שניה</a:t>
            </a:r>
          </a:p>
          <a:p>
            <a:pPr lvl="2"/>
            <a:r>
              <a:rPr lang="he-IL"/>
              <a:t>רמה שלישית</a:t>
            </a:r>
          </a:p>
          <a:p>
            <a:pPr lvl="3"/>
            <a:r>
              <a:rPr lang="he-IL"/>
              <a:t>רמה רביעית</a:t>
            </a:r>
          </a:p>
          <a:p>
            <a:pPr lvl="4"/>
            <a:r>
              <a:rPr lang="he-IL"/>
              <a:t>רמה חמישית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31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864DF5F2-D2BF-431E-BFF9-A44526EEADB6}" type="datetime8">
              <a:rPr lang="he-IL" smtClean="0"/>
              <a:pPr/>
              <a:t>01 יולי 26</a:t>
            </a:fld>
            <a:endParaRPr lang="he-I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3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endParaRPr lang="he-I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Assistant" panose="00000500000000000000" pitchFamily="2" charset="-79"/>
                <a:cs typeface="Assistant" panose="00000500000000000000" pitchFamily="2" charset="-79"/>
              </a:defRPr>
            </a:lvl1pPr>
          </a:lstStyle>
          <a:p>
            <a:fld id="{F22CDE36-7B02-4562-91DC-14257561E23C}" type="slidenum">
              <a:rPr lang="he-IL" smtClean="0"/>
              <a:pPr/>
              <a:t>‹#›</a:t>
            </a:fld>
            <a:endParaRPr lang="he-IL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10940307" y="760422"/>
            <a:ext cx="0" cy="914400"/>
          </a:xfrm>
          <a:prstGeom prst="line">
            <a:avLst/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68534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  <p:sldLayoutId id="2147483740" r:id="rId3"/>
    <p:sldLayoutId id="2147483741" r:id="rId4"/>
    <p:sldLayoutId id="2147483742" r:id="rId5"/>
    <p:sldLayoutId id="2147483743" r:id="rId6"/>
    <p:sldLayoutId id="2147483744" r:id="rId7"/>
    <p:sldLayoutId id="2147483745" r:id="rId8"/>
    <p:sldLayoutId id="2147483746" r:id="rId9"/>
    <p:sldLayoutId id="2147483747" r:id="rId10"/>
    <p:sldLayoutId id="2147483748" r:id="rId11"/>
  </p:sldLayoutIdLst>
  <p:hf hdr="0" ftr="0" dt="0"/>
  <p:txStyles>
    <p:titleStyle>
      <a:lvl1pPr algn="r" defTabSz="914377" rtl="1" eaLnBrk="1" latinLnBrk="0" hangingPunct="1">
        <a:lnSpc>
          <a:spcPct val="80000"/>
        </a:lnSpc>
        <a:spcBef>
          <a:spcPct val="0"/>
        </a:spcBef>
        <a:buNone/>
        <a:defRPr sz="4400" kern="1200" cap="all" spc="100" baseline="0">
          <a:solidFill>
            <a:schemeClr val="accent6">
              <a:lumMod val="50000"/>
            </a:schemeClr>
          </a:solidFill>
          <a:latin typeface="Assistant" panose="00000500000000000000" pitchFamily="2" charset="-79"/>
          <a:ea typeface="+mj-ea"/>
          <a:cs typeface="Assistant" panose="00000500000000000000" pitchFamily="2" charset="-79"/>
        </a:defRPr>
      </a:lvl1pPr>
    </p:titleStyle>
    <p:bodyStyle>
      <a:lvl1pPr marL="91438" indent="-91438" algn="r" defTabSz="914377" rtl="1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Tw Cen MT" panose="020B0602020104020603" pitchFamily="34" charset="0"/>
        <a:buChar char=" "/>
        <a:defRPr sz="22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1pPr>
      <a:lvl2pPr marL="265169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2pPr>
      <a:lvl3pPr marL="4480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3pPr>
      <a:lvl4pPr marL="594345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4pPr>
      <a:lvl5pPr marL="777221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Assistant" panose="00000500000000000000" pitchFamily="2" charset="-79"/>
          <a:ea typeface="+mn-ea"/>
          <a:cs typeface="Assistant" panose="00000500000000000000" pitchFamily="2" charset="-79"/>
        </a:defRPr>
      </a:lvl5pPr>
      <a:lvl6pPr marL="9143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677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22" indent="-137157" algn="r" defTabSz="914377" rtl="1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r" defTabSz="914377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תמונה 2"/>
          <p:cNvPicPr>
            <a:picLocks noChangeAspect="1"/>
          </p:cNvPicPr>
          <p:nvPr/>
        </p:nvPicPr>
        <p:blipFill rotWithShape="1">
          <a:blip r:embed="rId2"/>
          <a:srcRect r="10124"/>
          <a:stretch/>
        </p:blipFill>
        <p:spPr>
          <a:xfrm>
            <a:off x="0" y="4114800"/>
            <a:ext cx="3035808" cy="2743200"/>
          </a:xfrm>
          <a:prstGeom prst="rect">
            <a:avLst/>
          </a:prstGeom>
        </p:spPr>
      </p:pic>
      <p:sp>
        <p:nvSpPr>
          <p:cNvPr id="32" name="אליפסה 31"/>
          <p:cNvSpPr/>
          <p:nvPr/>
        </p:nvSpPr>
        <p:spPr>
          <a:xfrm>
            <a:off x="1188720" y="5888736"/>
            <a:ext cx="466344" cy="466344"/>
          </a:xfrm>
          <a:prstGeom prst="ellipse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6" name="מלבן 15"/>
          <p:cNvSpPr/>
          <p:nvPr/>
        </p:nvSpPr>
        <p:spPr>
          <a:xfrm>
            <a:off x="3072384" y="0"/>
            <a:ext cx="9125712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he-IL"/>
          </a:p>
        </p:txBody>
      </p:sp>
      <p:sp>
        <p:nvSpPr>
          <p:cNvPr id="19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0"/>
            <a:ext cx="8979408" cy="6949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5400" b="1" dirty="0">
                <a:solidFill>
                  <a:srgbClr val="305250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{STREET_NAME} {HOUSE_NUMBER}</a:t>
            </a:r>
          </a:p>
        </p:txBody>
      </p:sp>
      <p:sp>
        <p:nvSpPr>
          <p:cNvPr id="20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9889236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יעוד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{YEUD}</a:t>
            </a:r>
          </a:p>
        </p:txBody>
      </p:sp>
      <p:sp>
        <p:nvSpPr>
          <p:cNvPr id="21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676656"/>
            <a:ext cx="8979408" cy="3108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2000" dirty="0">
                <a:solidFill>
                  <a:srgbClr val="A6A6A6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גוש {GUSH_M} חלקה {PARCEL_M}</a:t>
            </a:r>
          </a:p>
        </p:txBody>
      </p:sp>
      <p:sp>
        <p:nvSpPr>
          <p:cNvPr id="2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2752344"/>
            <a:ext cx="8979408" cy="512064"/>
          </a:xfrm>
          <a:prstGeom prst="rect">
            <a:avLst/>
          </a:prstGeom>
          <a:solidFill>
            <a:srgbClr val="8ED05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B0004020202020204" pitchFamily="34" charset="0"/>
              </a:rPr>
              <a:t>סיווג: </a:t>
            </a:r>
            <a:r>
              <a:rPr lang="en-US" sz="3200" b="1" dirty="0">
                <a:solidFill>
                  <a:srgbClr val="2F5552"/>
                </a:solidFill>
                <a:latin typeface="Aptos" panose="020B0004020202020204" pitchFamily="34" charset="0"/>
              </a:rPr>
              <a:t>{SIVUG}</a:t>
            </a:r>
            <a:endParaRPr sz="3200" b="1" dirty="0">
              <a:solidFill>
                <a:srgbClr val="2F5552"/>
              </a:solidFill>
              <a:latin typeface="Aptos" panose="020B0004020202020204" pitchFamily="34" charset="0"/>
            </a:endParaRPr>
          </a:p>
        </p:txBody>
      </p:sp>
      <p:sp>
        <p:nvSpPr>
          <p:cNvPr id="25" name="מלבן 24"/>
          <p:cNvSpPr/>
          <p:nvPr/>
        </p:nvSpPr>
        <p:spPr>
          <a:xfrm>
            <a:off x="3072384" y="2240280"/>
            <a:ext cx="8979408" cy="420624"/>
          </a:xfrm>
          <a:prstGeom prst="rect">
            <a:avLst/>
          </a:prstGeom>
          <a:solidFill>
            <a:srgbClr val="AEBBC0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lang="he-IL" sz="3200" b="1" dirty="0">
                <a:solidFill>
                  <a:srgbClr val="2F5552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בעלות: {OWNERSHIP_TYPE} - {OWNER_DETAILS}</a:t>
            </a:r>
          </a:p>
        </p:txBody>
      </p:sp>
      <p:sp>
        <p:nvSpPr>
          <p:cNvPr id="27" name="אליפסה 26"/>
          <p:cNvSpPr/>
          <p:nvPr/>
        </p:nvSpPr>
        <p:spPr>
          <a:xfrm>
            <a:off x="4088891" y="1078992"/>
            <a:ext cx="960120" cy="960120"/>
          </a:xfrm>
          <a:prstGeom prst="ellipse">
            <a:avLst/>
          </a:prstGeom>
          <a:solidFill>
            <a:srgbClr val="E84A3A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1" anchor="ctr"/>
          <a:lstStyle/>
          <a:p>
            <a:pPr algn="ctr" rtl="1"/>
            <a:r>
              <a:rPr lang="he-IL" sz="72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{QUARTER}</a:t>
            </a:r>
          </a:p>
        </p:txBody>
      </p:sp>
      <p:graphicFrame>
        <p:nvGraphicFramePr>
          <p:cNvPr id="2" name="טבלה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5143216"/>
              </p:ext>
            </p:extLst>
          </p:nvPr>
        </p:nvGraphicFramePr>
        <p:xfrm>
          <a:off x="3072384" y="4379976"/>
          <a:ext cx="8979408" cy="1207008"/>
        </p:xfrm>
        <a:graphic>
          <a:graphicData uri="http://schemas.openxmlformats.org/drawingml/2006/table">
            <a:tbl>
              <a:tblPr rtl="1" firstRow="1" bandRow="1">
                <a:tableStyleId>{2D5ABB26-0587-4C30-8999-92F81FD0307C}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72053458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3385606801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1287329000"/>
                    </a:ext>
                  </a:extLst>
                </a:gridCol>
                <a:gridCol w="2249424">
                  <a:extLst>
                    <a:ext uri="{9D8B030D-6E8A-4147-A177-3AD203B41FA5}">
                      <a16:colId xmlns:a16="http://schemas.microsoft.com/office/drawing/2014/main" val="3932464124"/>
                    </a:ext>
                  </a:extLst>
                </a:gridCol>
              </a:tblGrid>
              <a:tr h="475488">
                <a:tc rowSpan="2">
                  <a:txBody>
                    <a:bodyPr/>
                    <a:lstStyle/>
                    <a:p>
                      <a:pPr algn="ctr" rtl="1"/>
                      <a:r>
                        <a:rPr lang="he-IL" sz="3200" b="1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אכיפה פעילה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כללי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פיקוח הבניה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he-IL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צו שיפוץ חזיתות</a:t>
                      </a: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947799"/>
                  </a:ext>
                </a:extLst>
              </a:tr>
              <a:tr h="475488">
                <a:tc vMerge="1">
                  <a:txBody>
                    <a:bodyPr/>
                    <a:lstStyle/>
                    <a:p>
                      <a:pPr algn="ctr" rtl="1"/>
                      <a:endParaRPr lang="he-IL" dirty="0"/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24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{PIKUACH_KLALI}</a:t>
                      </a:r>
                      <a:endParaRPr lang="he-IL" sz="24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{PIKUACH_AL_BNIYA}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en-US" sz="2400" kern="1200" dirty="0">
                          <a:solidFill>
                            <a:srgbClr val="2F5552"/>
                          </a:solidFill>
                          <a:latin typeface="Aptos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{TZAV_SHIPUTZ_FRONTS}</a:t>
                      </a:r>
                      <a:endParaRPr lang="he-IL" sz="2400" kern="1200" dirty="0">
                        <a:solidFill>
                          <a:schemeClr val="tx1"/>
                        </a:solidFill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0" marR="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9F0E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6580349"/>
                  </a:ext>
                </a:extLst>
              </a:tr>
            </a:tbl>
          </a:graphicData>
        </a:graphic>
      </p:graphicFrame>
      <p:sp>
        <p:nvSpPr>
          <p:cNvPr id="33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תכנון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{KIDUM_TICHNUN}</a:t>
            </a:r>
          </a:p>
        </p:txBody>
      </p:sp>
      <p:sp>
        <p:nvSpPr>
          <p:cNvPr id="22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616952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שימור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{SHIMUR_YEUD}</a:t>
            </a:r>
          </a:p>
        </p:txBody>
      </p:sp>
      <p:sp>
        <p:nvSpPr>
          <p:cNvPr id="2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5344668" y="3392424"/>
            <a:ext cx="2162556" cy="841248"/>
          </a:xfrm>
          <a:prstGeom prst="rect">
            <a:avLst/>
          </a:prstGeom>
          <a:solidFill>
            <a:srgbClr val="D4E6EE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3200" b="1">
                <a:solidFill>
                  <a:srgbClr val="2F5552"/>
                </a:solidFill>
                <a:latin typeface="Aptos"/>
              </a:rPr>
              <a:t>רישוי</a:t>
            </a:r>
          </a:p>
          <a:p>
            <a:pPr algn="ctr"/>
            <a:r>
              <a:rPr sz="1400" b="0">
                <a:solidFill>
                  <a:srgbClr val="2F5552"/>
                </a:solidFill>
                <a:latin typeface="Aptos"/>
              </a:rPr>
              <a:t>{BUILDING_PERMIT}</a:t>
            </a:r>
          </a:p>
        </p:txBody>
      </p:sp>
      <p:sp>
        <p:nvSpPr>
          <p:cNvPr id="26" name="אליפסה 25"/>
          <p:cNvSpPr/>
          <p:nvPr/>
        </p:nvSpPr>
        <p:spPr>
          <a:xfrm>
            <a:off x="7082027" y="1078992"/>
            <a:ext cx="960120" cy="960120"/>
          </a:xfrm>
          <a:prstGeom prst="ellipse">
            <a:avLst/>
          </a:prstGeom>
          <a:solidFill>
            <a:srgbClr val="9FAEB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082027" y="1078992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rtlCol="1" anchor="ctr">
            <a:spAutoFit/>
          </a:bodyPr>
          <a:lstStyle/>
          <a:p>
            <a:pPr algn="ctr" rtl="1"/>
            <a:r>
              <a:rPr lang="he-IL" sz="36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{BUILT_AREA_SQM}</a:t>
            </a:r>
          </a:p>
          <a:p>
            <a:pPr algn="ctr" rtl="1"/>
            <a:r>
              <a:rPr lang="he-IL" sz="16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מ"ר בנוי</a:t>
            </a:r>
          </a:p>
        </p:txBody>
      </p:sp>
      <p:sp>
        <p:nvSpPr>
          <p:cNvPr id="24" name="אליפסה 23"/>
          <p:cNvSpPr/>
          <p:nvPr/>
        </p:nvSpPr>
        <p:spPr>
          <a:xfrm>
            <a:off x="10075164" y="1078992"/>
            <a:ext cx="960120" cy="960120"/>
          </a:xfrm>
          <a:prstGeom prst="ellipse">
            <a:avLst/>
          </a:prstGeom>
          <a:solidFill>
            <a:srgbClr val="E8AE22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endParaRPr lang="he-IL" sz="2400" b="1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075164" y="1078992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rtlCol="1" anchor="ctr">
            <a:spAutoFit/>
          </a:bodyPr>
          <a:lstStyle/>
          <a:p>
            <a:pPr algn="ctr" rtl="1"/>
            <a:r>
              <a:rPr lang="he-IL" sz="2800" b="1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{DAMAGE_PERCENT}</a:t>
            </a:r>
          </a:p>
          <a:p>
            <a:pPr algn="ctr" rtl="1"/>
            <a:r>
              <a:rPr lang="he-IL" sz="1200" dirty="0">
                <a:solidFill>
                  <a:srgbClr val="FFFFFF"/>
                </a:solidFill>
                <a:latin typeface="Aptos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ניזוק פטור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0E0737-9A13-3187-0B8F-64280260EE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035808" cy="4114800"/>
          </a:xfrm>
          <a:prstGeom prst="rect">
            <a:avLst/>
          </a:prstGeom>
        </p:spPr>
      </p:pic>
      <p:sp>
        <p:nvSpPr>
          <p:cNvPr id="17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3072384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העירייה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{MUNI_POSITION}</a:t>
            </a:r>
          </a:p>
        </p:txBody>
      </p:sp>
      <p:sp>
        <p:nvSpPr>
          <p:cNvPr id="18" name="תיבת טקסט 9">
            <a:extLst>
              <a:ext uri="{FF2B5EF4-FFF2-40B4-BE49-F238E27FC236}">
                <a16:creationId xmlns:a16="http://schemas.microsoft.com/office/drawing/2014/main" id="{2576C175-3BF1-9365-5DE4-6A895245D818}"/>
              </a:ext>
            </a:extLst>
          </p:cNvPr>
          <p:cNvSpPr txBox="1"/>
          <p:nvPr/>
        </p:nvSpPr>
        <p:spPr>
          <a:xfrm>
            <a:off x="7653528" y="5504688"/>
            <a:ext cx="4398264" cy="932688"/>
          </a:xfrm>
          <a:prstGeom prst="rect">
            <a:avLst/>
          </a:prstGeom>
          <a:solidFill>
            <a:srgbClr val="EDF6F2"/>
          </a:solidFill>
          <a:ln>
            <a:noFill/>
          </a:ln>
        </p:spPr>
        <p:txBody>
          <a:bodyPr wrap="square" lIns="0" tIns="0" rIns="0" bIns="0" anchor="ctr">
            <a:spAutoFit/>
          </a:bodyPr>
          <a:lstStyle/>
          <a:p>
            <a:pPr algn="ctr" rtl="1"/>
            <a:r>
              <a:rPr sz="2200" b="1">
                <a:solidFill>
                  <a:srgbClr val="2F5552"/>
                </a:solidFill>
                <a:latin typeface="Aptos"/>
              </a:rPr>
              <a:t>עמדת הבעלים</a:t>
            </a:r>
          </a:p>
          <a:p>
            <a:pPr algn="ctr"/>
            <a:r>
              <a:rPr sz="2000" b="1">
                <a:solidFill>
                  <a:srgbClr val="2F5552"/>
                </a:solidFill>
                <a:latin typeface="Aptos"/>
              </a:rPr>
              <a:t>{OWNER_POSITION}</a:t>
            </a:r>
          </a:p>
        </p:txBody>
      </p:sp>
    </p:spTree>
    <p:extLst>
      <p:ext uri="{BB962C8B-B14F-4D97-AF65-F5344CB8AC3E}">
        <p14:creationId xmlns:p14="http://schemas.microsoft.com/office/powerpoint/2010/main" val="2354692379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אינטגרל">
  <a:themeElements>
    <a:clrScheme name="אינטגרל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אינטגרל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אינטגרל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25837</TotalTime>
  <Words>123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Assistant</vt:lpstr>
      <vt:lpstr>Calibri</vt:lpstr>
      <vt:lpstr>Tw Cen MT</vt:lpstr>
      <vt:lpstr>Wingdings 3</vt:lpstr>
      <vt:lpstr>אינטגרל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PowerPoint‏</dc:title>
  <dc:creator>דובוב-דותן ויטלי</dc:creator>
  <cp:lastModifiedBy>Kareem Araide</cp:lastModifiedBy>
  <cp:revision>1074</cp:revision>
  <cp:lastPrinted>2025-01-26T07:06:47Z</cp:lastPrinted>
  <dcterms:created xsi:type="dcterms:W3CDTF">2018-12-31T06:28:35Z</dcterms:created>
  <dcterms:modified xsi:type="dcterms:W3CDTF">2026-07-01T07:15:16Z</dcterms:modified>
</cp:coreProperties>
</file>